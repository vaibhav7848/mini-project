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5"/>
    <p:sldId id="275" r:id="rId4"/>
    <p:sldId id="276" r:id="rId3"/>
    <p:sldId id="277" r:id="rId28"/>
    <p:sldId id="278" r:id="rId29"/>
    <p:sldId id="279" r:id="rId30"/>
    <p:sldId id="28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21.xml"/><Relationship Id="rId4" Type="http://schemas.openxmlformats.org/officeDocument/2006/relationships/slide" Target="slides/slide20.xml"/><Relationship Id="rId5" Type="http://schemas.openxmlformats.org/officeDocument/2006/relationships/slide" Target="slides/slide19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51546-1686-4C0B-B9BE-3163B404F5B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D4D5A-7FD4-4B03-AA63-45CB7CF6F81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502920"/>
            <a:ext cx="7863840" cy="13368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60152" cy="5486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B03A2E"/>
                </a:solidFill>
                <a:latin typeface="Times New Roman"/>
              </a:rPr>
              <a:t>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0152" cy="7315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222222"/>
                </a:solidFill>
                <a:latin typeface="Times New Roman"/>
              </a:rPr>
              <a:t>Milestone-Based Escrow &amp; Dispute Resolution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360152" cy="41148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22222"/>
                </a:solidFill>
                <a:latin typeface="Times New Roman"/>
              </a:rPr>
              <a:t>Team: 07  |  Theme: 01  |  Engine Decomposition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931920"/>
            <a:ext cx="1783080" cy="5486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Data Structures &amp; Algorithms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39" y="3931920"/>
            <a:ext cx="1783080" cy="5486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Database Management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3931920"/>
            <a:ext cx="1783080" cy="5486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Operating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3931920"/>
            <a:ext cx="1783080" cy="5486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Software Engineering (SE)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3931920"/>
            <a:ext cx="1783080" cy="5486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Web Technologies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3931920"/>
            <a:ext cx="1783080" cy="5486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Discrete Mathematics (Supporting)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10360152" cy="11887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B03A2E"/>
                </a:solidFill>
                <a:latin typeface="Times New Roman"/>
              </a:rPr>
              <a:t>Team Members</a:t>
            </a:r>
          </a:p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Times New Roman"/>
              </a:rPr>
              <a:t>Vaibhav Chavanpatil (02FE24BCS013)   |   Purvi Sammatshetti (02FE24BCS022)</a:t>
            </a:r>
          </a:p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Times New Roman"/>
              </a:rPr>
              <a:t>Darshan Kittur (02FE24BCS053)   |   Vaishnavi Modekar (02FE24BCS060)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Department of Computer Science and Engineering,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KLE Technological University's Dr. M. S. Sheshgiri College of Engineering and Technology, Belagavi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22222"/>
                </a:solidFill>
                <a:latin typeface="Times New Roman"/>
              </a:rPr>
              <a:t>The Freelance Problem Space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PROBLEM IDENTIFICATION  —  </a:t>
            </a:r>
            <a:r>
              <a:rPr sz="1300" b="0" i="1">
                <a:solidFill>
                  <a:srgbClr val="555555"/>
                </a:solidFill>
                <a:latin typeface="Times New Roman"/>
              </a:rPr>
              <a:t>Key pain points in the marketplace that require a secure escrow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6949440" cy="117271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Payment Delays &amp; Fraud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Freelancers often face late payments, unpaid invoices, or clients who disappear after receiving the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71750"/>
            <a:ext cx="6949440" cy="117271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Scope Creep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Clients continuously add new requirements outside the original agreement without adjusting the budget.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17620"/>
            <a:ext cx="6949440" cy="117271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Unfair Disputes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When disagreements occur, there is no transparent, evidence-based system to resolve the conflict fairly.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063490"/>
            <a:ext cx="6949440" cy="117271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Lack of Trust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Both parties operate with high risk—clients fear paying for bad work, and developers fear working for free.</a:t>
            </a:r>
          </a:p>
        </p:txBody>
      </p:sp>
      <p:pic>
        <p:nvPicPr>
          <p:cNvPr id="12" name="Picture 11" descr="s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73736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22222"/>
                </a:solidFill>
                <a:latin typeface="Times New Roman"/>
              </a:rPr>
              <a:t>The Escrow &amp; Milestone Mechanism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SOLUTION WORKFLOW  —  </a:t>
            </a:r>
            <a:r>
              <a:rPr sz="1300" b="0" i="1">
                <a:solidFill>
                  <a:srgbClr val="555555"/>
                </a:solidFill>
                <a:latin typeface="Times New Roman"/>
              </a:rPr>
              <a:t>Securing trust through verified deliverables and locked funds.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6949440" cy="117271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1. Secure Fund Locking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The client deposits the total project budget into a secure escrow vault before any work begins, eliminating payment risk.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71750"/>
            <a:ext cx="6949440" cy="117271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2. Milestone Submissions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The developer submits code and deliverables for specific, agreed-upon milestones. Artifacts are hashed for integrity.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17620"/>
            <a:ext cx="6949440" cy="117271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3. Verification &amp; Release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Once the client reviews and approves the submission, the smart FSM automatically releases the locked funds to the developer.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063490"/>
            <a:ext cx="6949440" cy="117271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Dispute Adjudication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If approval fails, reviewers use the cryptographic evidence tree to fairly resolve the issue.</a:t>
            </a:r>
          </a:p>
        </p:txBody>
      </p:sp>
      <p:pic>
        <p:nvPicPr>
          <p:cNvPr id="12" name="Picture 11" descr="s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73736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22222"/>
                </a:solidFill>
                <a:latin typeface="Times New Roman"/>
              </a:rPr>
              <a:t>Zero-Copy Memory Management Principles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5555"/>
                </a:solidFill>
                <a:latin typeface="Times New Roman"/>
              </a:rPr>
              <a:t>The following high-level engineering principles guide how memory and data buffers should be considered across the scheduling, persistence, and dashboard paths of the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371600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Goal: minimize avoidable copies across scheduling, routing, database, and dashboard paths.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984248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Pass immutable views, handles, or offsets instead of cloning large payloads.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96896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596896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Consider shared memory, mapped files, ring buffers, pooling, and scatter/gather I/O when useful.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9544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209544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Assign one owner for allocation, mutation, release, backpressure, and cleanup.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22191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822191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Specify buffer lifetime, alignment, bounds, mutability, versioning, and fallback behaviour.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434840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Optimize selectively; small control messages may favor simplicity.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47488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5047488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Instrument copy count, allocations, CPU, latency, throughput, and peak memory.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660136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5660136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Acceptance: preserve correctness under load and document every fallback copy.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22222"/>
                </a:solidFill>
                <a:latin typeface="Times New Roman"/>
              </a:rPr>
              <a:t>Rudimentary Security Principles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5555"/>
                </a:solidFill>
                <a:latin typeface="Times New Roman"/>
              </a:rPr>
              <a:t>The following baseline security principles apply across all engines and system layers.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371600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Authenticate users and services; authorize every action with role-based, least-privilege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984248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Protect network traffic with TLS and reject insecure or untrusted service connections.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96896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596896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Validate type, length, range, state, and ownership at every API and buffer boundary.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9544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209544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Use parameterized database queries, output encoding, and safe error messages without sensitive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22191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822191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Keep credentials and keys outside source code; rotate secrets and separate student, admin, and service roles.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434840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Record tamper-aware audit events with actor, action, timestamp, outcome, and correlation ID.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47488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5047488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Apply timeouts, rate limits, dependency checks, secure defaults, backups, and recovery tests.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660136"/>
            <a:ext cx="457200" cy="53035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5660136"/>
            <a:ext cx="10744200" cy="5303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Acceptance evidence: negative tests show no unauthorized access, injection, secret leakage, or unsafe retry.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377440"/>
            <a:ext cx="8531352" cy="164592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B03A2E"/>
                </a:solidFill>
                <a:latin typeface="Times New Roman"/>
              </a:rPr>
              <a:t>SECTION A — ENGINE DECOMPOSITION 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377440"/>
            <a:ext cx="8531352" cy="164592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B03A2E"/>
                </a:solidFill>
                <a:latin typeface="Times New Roman"/>
              </a:rPr>
              <a:t>SECTION B — WEEK 4 AND GATE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8</a:t>
            </a:r>
          </a:p>
        </p:txBody>
      </p:sp>
      <p:pic>
        <p:nvPicPr>
          <p:cNvPr id="5" name="Picture 4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AN ENGINE-BASED MINI-PROJECT FRAMEWORK WITH HYBRID SDLC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60152" cy="73152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222222"/>
                </a:solidFill>
                <a:latin typeface="Times New Roman"/>
              </a:rPr>
              <a:t>Milestone-Based Escrow &amp; Dispute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Team 07 | Decomposing the freelance platform into four engineering engines.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5029200"/>
            <a:ext cx="2297430" cy="50292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Operating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14750" y="5029200"/>
            <a:ext cx="2297430" cy="50292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DSA &amp; Software Engineering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9340" y="5029200"/>
            <a:ext cx="2297430" cy="50292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DBMS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83930" y="5029200"/>
            <a:ext cx="2297430" cy="50292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Web Technologies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22222"/>
                </a:solidFill>
                <a:latin typeface="Times New Roman"/>
              </a:rPr>
              <a:t>Four Engines Visualization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SYSTEM ARCHITECTURE  —  </a:t>
            </a:r>
            <a:r>
              <a:rPr sz="1300" b="0" i="1">
                <a:solidFill>
                  <a:srgbClr val="555555"/>
                </a:solidFill>
                <a:latin typeface="Times New Roman"/>
              </a:rPr>
              <a:t>Four distinct engineering domains powering a single unified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6949440" cy="117271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OS Engine (Escrow FSM)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Manages the deterministic state transitions of the escrow vault, ensuring atomic locks and safe fund releases.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71750"/>
            <a:ext cx="6949440" cy="117271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DSA &amp; SE Engine (Evidence)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Handles SHA-256 cryptographic hashing, requirements traceability, and evidence tree structures for dispute resolution.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17620"/>
            <a:ext cx="6949440" cy="117271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DBMS Engine (Ledger)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Executes ACID-compliant relational transactions and maintains tamper-resistant audit logs of all platform activity.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063490"/>
            <a:ext cx="6949440" cy="117271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Web Engine (Dashboard)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Provides the Role-Based Access Control (RBAC) frontend for Clients, Freelancers, and Reviewers to interact with the system.</a:t>
            </a:r>
          </a:p>
        </p:txBody>
      </p:sp>
      <p:pic>
        <p:nvPicPr>
          <p:cNvPr id="12" name="Picture 11" descr="s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737360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22222"/>
                </a:solidFill>
                <a:latin typeface="Times New Roman"/>
              </a:rPr>
              <a:t>Four Engines, One Integrated System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PROJECT ARCHITECTURE  —  </a:t>
            </a:r>
            <a:r>
              <a:rPr sz="1300" b="0" i="1">
                <a:solidFill>
                  <a:srgbClr val="555555"/>
                </a:solidFill>
                <a:latin typeface="Times New Roman"/>
              </a:rPr>
              <a:t>Each engine is independently ownable and testable, while contributing to the integrated Milestone-Based Escrow &amp; Dispute Resolution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486400" cy="224028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914400" cy="7315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B03A2E"/>
                </a:solidFill>
                <a:latin typeface="Times New Roma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4297680" cy="1920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22222"/>
                </a:solidFill>
                <a:latin typeface="Times New Roman"/>
              </a:rPr>
              <a:t>Escrow &amp; State Scheduler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OS ENGINE · Vaishnavi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Simulates escrow locks and milestone state transitions.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5486400" cy="224028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914400" cy="7315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B03A2E"/>
                </a:solidFill>
                <a:latin typeface="Times New Roman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45920"/>
            <a:ext cx="4297680" cy="1920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22222"/>
                </a:solidFill>
                <a:latin typeface="Times New Roman"/>
              </a:rPr>
              <a:t>Verification &amp; Evidence Engine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DSA &amp; SOFTWARE ENG · Darshan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Manages cryptographic verification, artifact integrity, and evidence trees for disputes.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5486400" cy="224028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23360"/>
            <a:ext cx="914400" cy="7315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B03A2E"/>
                </a:solidFill>
                <a:latin typeface="Times New Roman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069080"/>
            <a:ext cx="4297680" cy="1920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22222"/>
                </a:solidFill>
                <a:latin typeface="Times New Roman"/>
              </a:rPr>
              <a:t>Transaction Ledger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DBMS ENGINE · Purvi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Handles ACID milestone payments and audit logs.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5486400" cy="224028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023360"/>
            <a:ext cx="914400" cy="7315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B03A2E"/>
                </a:solidFill>
                <a:latin typeface="Times New Roman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069080"/>
            <a:ext cx="4297680" cy="1920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22222"/>
                </a:solidFill>
                <a:latin typeface="Times New Roman"/>
              </a:rPr>
              <a:t>Role-Based Workflow Dashboard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WEB TECHNOLOGIES · Vaibhav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Responsive UI for clients, freelancers, and reviewers with RBAC and dispute workflows.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22222"/>
                </a:solidFill>
                <a:latin typeface="Times New Roman"/>
              </a:rPr>
              <a:t>Requirements to Engines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ENGINE DECOMPOSITION  —  </a:t>
            </a:r>
            <a:r>
              <a:rPr sz="1300" b="0" i="1">
                <a:solidFill>
                  <a:srgbClr val="555555"/>
                </a:solidFill>
                <a:latin typeface="Times New Roman"/>
              </a:rPr>
              <a:t>Requirement clusters derive the four engines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3291840" cy="4572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25880"/>
            <a:ext cx="3291840" cy="4572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Requirement Clusters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325880"/>
            <a:ext cx="3291840" cy="4572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Derived Engines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3291840" cy="429768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1. Escrow fund locking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2. Milestone tracking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3. File hashing &amp; uploads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4. ACID payments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5. Dispute workflows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6. User auth &amp; RBAC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222"/>
                </a:solidFill>
                <a:latin typeface="Times New Roman"/>
              </a:rPr>
              <a:t>7. Role-specific dashboards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874519"/>
            <a:ext cx="3840480" cy="9875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Cluster A: Escrow Governance (Manage state transitions)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874519"/>
            <a:ext cx="3291840" cy="9875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E1: OS Engine Owner: Vaishnavi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874519"/>
            <a:ext cx="457200" cy="9875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03A2E"/>
                </a:solidFill>
                <a:latin typeface="Times New Roman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971800"/>
            <a:ext cx="3840480" cy="9875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Cluster B: Evidence &amp; Verification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(Cryptographic hashing &amp; artifact traceability)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971800"/>
            <a:ext cx="3291840" cy="9875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E2: DSA &amp; SE Engine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Owner: Darshan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971800"/>
            <a:ext cx="457200" cy="9875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03A2E"/>
                </a:solidFill>
                <a:latin typeface="Times New Roman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069079"/>
            <a:ext cx="3840480" cy="9875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Cluster C: Ledger Persistence (ACID transactions)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4069079"/>
            <a:ext cx="3291840" cy="9875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E3: DBMS Engine Owner: Purvi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069079"/>
            <a:ext cx="457200" cy="9875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03A2E"/>
                </a:solidFill>
                <a:latin typeface="Times New Roman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5166359"/>
            <a:ext cx="3840480" cy="9875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Cluster D: Multi-Role UI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(Auth, RBAC, dispute forms)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5166359"/>
            <a:ext cx="3291840" cy="98755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E4: Web Engine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Owner: Vaibhav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166359"/>
            <a:ext cx="457200" cy="987552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03A2E"/>
                </a:solidFill>
                <a:latin typeface="Times New Roman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566160"/>
            <a:ext cx="365760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03A2E"/>
                </a:solidFill>
                <a:latin typeface="Times New Roman"/>
              </a:rPr>
              <a:t>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22222"/>
                </a:solidFill>
                <a:latin typeface="Times New Roman"/>
              </a:rPr>
              <a:t>Engine 01 — Escrow &amp; State Scheduler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OPERATING SYSTEMS ENGINE — Owner: Vaishnavi Modekar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577840" cy="3657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5577840" cy="18288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Manages milestone states (Funded, In-Progress, Released).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Enforces atomic locks on funds to prevent double-spending.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Handles timeouts for delayed client reviews.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577840" cy="3657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What students should 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5577840" cy="18288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Implement state transition logic.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Write mutex/semaphore controls to avoid race conditions.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Test timeout scenarios and deadlock prevention.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11880"/>
            <a:ext cx="10972800" cy="3200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Academic focus &amp; foundational link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977639"/>
          <a:ext cx="11475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458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Foundational course area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Concepts exercised by this engine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Operating Systems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Process/thread scheduling, semaphores, deadlock-free allocation, memory mgmt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Data Structures &amp; Algorithms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Priority queues, circular queues (Round Robin), heaps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Object-Oriented Programming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Process classes, scheduler inheritance hierarchy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Software Engineering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Requirements spec, module design, state-transition diagrams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Computer Networks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IPC, socket-based inter-engine communication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22222"/>
                </a:solidFill>
                <a:latin typeface="Times New Roman"/>
              </a:rPr>
              <a:t>Engine 02 — Evidence &amp; Quality Assurance Engine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DSA &amp; SOFTWARE ENGINEERING — Owner: Darshan Kittur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577840" cy="3657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5577840" cy="18288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Applies cryptographic SHA-256 hashing for deliverable verification.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Organizes evidence files in tamper-evident trees (DSA).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Enforces requirements traceability and V&amp;V pipelines (SE).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577840" cy="3657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What students should 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5577840" cy="18288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Implement verification (V&amp;V) pipelines for deliverables.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Design artifact traceability structures linking to hash proofs.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Optimize evidence tree traversal for fast dispute resolution.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11880"/>
            <a:ext cx="10972800" cy="3200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Academic focus &amp; foundational link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977639"/>
          <a:ext cx="11475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458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Foundational course area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Concepts exercised by this engine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Software Engineering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V&amp;V, requirements traceability, artifact management, test design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Data Structures &amp; Algorithms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Hash maps, tree structures for evidence indexing, traversal optimization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Computer Networks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Secure deliverable transmission, HTTP/REST upload validation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Object-Oriented Programming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Graph node/edge classes, adapter pattern for interfaces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Software Engineering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Algorithm complexity analysis, performance benchmarking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Times New Roman"/>
              </a:rPr>
              <a:t>Engine 03 — Transaction &amp; Contract Manager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DBMS ENGINE — Owner: Purvi Sammatshetti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577840" cy="3657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5577840" cy="18288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Manages all relational records (Users, Contracts, Milestones, Payments).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Executes ACID transactions to ensure escrow transfers are atomic (no double spending).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Maintains tamper-resistant audit logs of every state change for dispute resolution.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577840" cy="3657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What students should 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5577840" cy="18288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Design normalized schemas (BCNF).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Write parameterized SQL queries to prevent injection.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Implement database triggers for audit logging.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11880"/>
            <a:ext cx="10972800" cy="3200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Academic focus &amp; foundational link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977639"/>
          <a:ext cx="11475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458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Foundational course area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Concepts exercised by this engine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Database Management Systems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Schema design, normalization, ACID, indexing, triggers, views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Data Structures &amp; Algorithms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B-Tree indexing, hash maps, transaction log structures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Computer Networks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Secure data transmission, client-server connectivity, REST APIs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Software Engineering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ER modeling, UML diagrams, transaction test design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Operating Systems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File system integration for backup, buffer management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Times New Roman"/>
              </a:rPr>
              <a:t>Engine 04 — Role-Based Workflow Dashboard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WEB TECHNOLOGIES ENGINE — Owner: Vaibhav Chavanpatil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577840" cy="3657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5577840" cy="18288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Provides responsive dashboards for clients, freelancers, and reviewers.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Visualizes real-time milestone progress.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Handles user authentication and dispute forms.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577840" cy="3657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What students should 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5577840" cy="18288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Build the UI using React/Next.js.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Implement DOM updates and asynchronous API calls.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•  Ensure role-based access control (RBAC).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11880"/>
            <a:ext cx="10972800" cy="3200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Academic focus &amp; foundational link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977639"/>
          <a:ext cx="11475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458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Foundational course area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Concepts exercised by this engine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Web Technologies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HTML5 semantic markup, CSS3 animations/transitions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Computer Networks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HTTP/HTTPS protocols, RESTful API consumption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Software Engineering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UI/UX principles, responsive design, accessibility, testing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Database Management Systems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Form validation, SQL injection prevention, data binding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Times New Roman"/>
                        </a:rPr>
                        <a:t>Data Structures &amp; Algorithms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Times New Roman"/>
                        </a:rPr>
                        <a:t>Event queues, sorting/filtering for dashboard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22222"/>
                </a:solidFill>
                <a:latin typeface="Times New Roman"/>
              </a:rPr>
              <a:t>Four-Engine Integrated Platform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SYSTEM ARCHITECTURE  —  </a:t>
            </a:r>
            <a:r>
              <a:rPr sz="1300" b="0" i="1">
                <a:solidFill>
                  <a:srgbClr val="555555"/>
                </a:solidFill>
                <a:latin typeface="Times New Roman"/>
              </a:rPr>
              <a:t>Full-stack milestone escrow and dispute resolution platform architecture and data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5760720" cy="3657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Technology stack &amp; layer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5760720" cy="466344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Presentation Layer: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 Next.js 16 (App Router), React 19, Tailwind CSS 4, Lucide Icons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Application Layer: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 Next.js Server Route Handlers, TypeScript 5, Zod 4 Validation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Domain Engine: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 Escrow FSM validator (escrow-engine.ts), AI Matcher (ai-matcher.ts)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Security &amp; Hashing: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 Node.js Crypto (SHA-256 deliverable checksums), RBAC Middleware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Persistence Layer: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 Prisma 5.22 ORM, SQLite relational database, ACID transactions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Inter-Engine Comms: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 Async RESTful JSON APIs, parameterized queries, structured envelopes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80160"/>
            <a:ext cx="5486400" cy="36576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Engine decomposition &amp; runtime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645920"/>
            <a:ext cx="5486400" cy="111556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E1 · OS Engine (Vaishnavi)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Escrow State Scheduler — Enforces atomic funds lock and deterministic state transitions: AWAITING_DEPOSIT → FUNDED → IN_PROGRESS → UNDER_REVIEW → RELEASED.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834640"/>
            <a:ext cx="5486400" cy="111556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E2 · DSA &amp; SE Engine (Darshan)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Evidence &amp; Quality Assurance Engine — Verifies deliverable integrity via SHA-256 hash generation, indexes dispute artifacts in evidence trees, ensures requirements traceability.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4023360"/>
            <a:ext cx="5486400" cy="111556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E3 · DBMS Engine (Purvi)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Transaction &amp; Contract Manager — Manages relational contracts, bids, and milestones; executes ACID payments; logs tamper-resistant audit trails.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5212080"/>
            <a:ext cx="5486400" cy="111556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E4 · Web Engine (Vaibhav)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Role-Based Workflow Dashboard — Delivers responsive dashboards for Client, Developer, and Reviewer; handles user auth, RBAC, dispute forms, and real-time FSM visualization.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22222"/>
                </a:solidFill>
                <a:latin typeface="Times New Roman"/>
              </a:rPr>
              <a:t>RESTful Endpoints &amp; Inter-Engine Contract Protocol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API ARCHITECTURE  —  </a:t>
            </a:r>
            <a:r>
              <a:rPr sz="1300" b="0" i="1">
                <a:solidFill>
                  <a:srgbClr val="555555"/>
                </a:solidFill>
                <a:latin typeface="Times New Roman"/>
              </a:rPr>
              <a:t>Modular API routes implemented with Next.js Route Handlers, structured JSON envelopes, and error handling.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34440"/>
          <a:ext cx="11430000" cy="3099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1828800"/>
                <a:gridCol w="694944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Endpoint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Owning Engine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Description &amp; Response Contract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Times New Roman"/>
                        </a:rPr>
                        <a:t>/api/projects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GET, POST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E3 · DBMS / E4 · Web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List open projects or create new project with budget and skill tags; returns Project schema.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Times New Roman"/>
                        </a:rPr>
                        <a:t>/api/proposals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POST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E3 · DBMS / E2 · DSA/SE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Submit developer proposal; triggers AI Matcher (aiMatchScore, skills overlap analysis).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Times New Roman"/>
                        </a:rPr>
                        <a:t>/api/contracts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GET, POST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E1 · OS / E3 · DBMS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Fetch active contracts; execute SUBMIT_MILESTONE, APPROVE_MILESTONE, RELEASE_ESCROW.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Times New Roman"/>
                        </a:rPr>
                        <a:t>/api/gigs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GET, POST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E4 · Web / E3 · DBMS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Query marketplace services by category/query; create tiered packages (Basic/Std/Prem).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Times New Roman"/>
                        </a:rPr>
                        <a:t>/api/gigs/[id]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GET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E4 · Web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Fetch single gig details with seller profile, verification badges, and completed reviews.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Times New Roman"/>
                        </a:rPr>
                        <a:t>/api/orders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GET, POST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E1 · OS / E3 · DBMS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Place and track gig orders with deliverable URLs, delivery due dates, and status.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Times New Roman"/>
                        </a:rPr>
                        <a:t>/api/developers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GET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E4 · Web / E3 · DBMS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List developers with parsed skills, hourly rates, availability, and GitHub scores.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Times New Roman"/>
                        </a:rPr>
                        <a:t>/api/analyze-github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POST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E2 · SE / E4 · Web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Verify developer GitHub profile; calculate developer score, repository metrics, top languages.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4754880"/>
            <a:ext cx="11430000" cy="32918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CORE CONTRACT ACTION PROTOCOL (POST /api/contracts)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084064"/>
            <a:ext cx="11430000" cy="128016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03A2E"/>
                </a:solidFill>
                <a:latin typeface="Times New Roman"/>
              </a:rPr>
              <a:t>SUBMIT_MILESTONE:</a:t>
            </a:r>
            <a:r>
              <a:rPr sz="1100" b="0" i="0">
                <a:solidFill>
                  <a:srgbClr val="222222"/>
                </a:solidFill>
                <a:latin typeface="Times New Roman"/>
              </a:rPr>
              <a:t> Developer uploads deliverable code/URL → crypto.createHash('sha256') checksum generated → Milestone status becomes SUBMITTED → Contract moves to UNDER_REVIEW.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03A2E"/>
                </a:solidFill>
                <a:latin typeface="Times New Roman"/>
              </a:rPr>
              <a:t>APPROVE_MILESTONE:</a:t>
            </a:r>
            <a:r>
              <a:rPr sz="1100" b="0" i="0">
                <a:solidFill>
                  <a:srgbClr val="222222"/>
                </a:solidFill>
                <a:latin typeface="Times New Roman"/>
              </a:rPr>
              <a:t> Client reviews deliverable and checksum → marks Milestone as APPROVED → triggers release validation.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03A2E"/>
                </a:solidFill>
                <a:latin typeface="Times New Roman"/>
              </a:rPr>
              <a:t>RELEASE_ESCROW:</a:t>
            </a:r>
            <a:r>
              <a:rPr sz="1100" b="0" i="0">
                <a:solidFill>
                  <a:srgbClr val="222222"/>
                </a:solidFill>
                <a:latin typeface="Times New Roman"/>
              </a:rPr>
              <a:t> validateEscrowTransition(current, 'RELEASED') checks FSM compliance → releases locked funds → contract marked RELEASED.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22222"/>
                </a:solidFill>
                <a:latin typeface="Times New Roman"/>
              </a:rPr>
              <a:t>Functional Requirements Specification (FRS)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REQUIREMENTS BASELINE  —  </a:t>
            </a:r>
            <a:r>
              <a:rPr sz="1300" b="0" i="1">
                <a:solidFill>
                  <a:srgbClr val="555555"/>
                </a:solidFill>
                <a:latin typeface="Times New Roman"/>
              </a:rPr>
              <a:t>Detailed functional requirements mapped to owning engines with observable acceptance criteria.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34440"/>
          <a:ext cx="1143000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920240"/>
                <a:gridCol w="4206240"/>
                <a:gridCol w="1188720"/>
                <a:gridCol w="33832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FR-ID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Requirement Title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Detailed Functional Description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Owning Engine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Acceptance Criteria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FR-01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Escrow Fund Locking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The system shall atomically lock client funds upon contract agreement.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E1 · 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Funds locked in escrow balance.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FR-02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Milestone State Tracking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The system shall enforce sequential milestone states.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E1 · OS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Invalid status jumps rejected by FSM.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FR-03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Cryptographic Checksums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The system shall generate a SHA-256 checksum for deliverables.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E2 · DSA/SE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Checksum verified upon review.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FR-04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Evidence Trees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The system shall organize artifacts into tamper-evident tree structures.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E2 · DSA/SE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Dispute case loads tree hierarchy.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FR-05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ACID Payment Processing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The system shall process milestone payments via ACID transactions.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E3 · DBMS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Zero balance discrepancy.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FR-06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Tamper-Resistant Audit Log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The system shall record all changes in an append-only audit log.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E3 · DBMS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Audit log records actor/action/hash.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FR-07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Role-Based Dashboards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The system shall render tailored dashboards for Client/Dev/Reviewer.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E4 · Web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Users see specific role tools.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FR-08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Authentication &amp; RBAC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The system shall authenticate users and enforce RBAC.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E4 · Web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Unauthorized access returns 401/403.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FR-09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Dispute Workflow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The system shall provide dispute filing forms and tracking.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E4 · Web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Users can track disputes.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FR-10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FSM Progress UI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The system shall render real-time milestone trackers.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E4 · Web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UI displays backend state visually.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FR-11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AI Semantic Match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The system shall compute match scores between tags and devs.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E2 / E3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Proposals display match score.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FR-12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Contract Lifecycle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The system shall orchestrate the contract lifecycle.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E1 · OS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Times New Roman"/>
                        </a:rPr>
                        <a:t>Contract transitions cleanly.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222222"/>
                </a:solidFill>
                <a:latin typeface="Times New Roman"/>
              </a:rPr>
              <a:t>Non-Functional Requirements Specification (NFRS)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QUALITY ATTRIBUTES  —  </a:t>
            </a:r>
            <a:r>
              <a:rPr sz="1300" b="0" i="1">
                <a:solidFill>
                  <a:srgbClr val="555555"/>
                </a:solidFill>
                <a:latin typeface="Times New Roman"/>
              </a:rPr>
              <a:t>Target quality attributes, system constraints, measurable KPI targets, and verification methodologies.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80160"/>
          <a:ext cx="11521440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371600"/>
                <a:gridCol w="4114800"/>
                <a:gridCol w="2743200"/>
                <a:gridCol w="24688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NFR-ID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Quality Attribute Target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Measurable KPI Target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Verification Method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NFR-01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Performance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REST API endpoint latency under standard operational workload.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≤ 500 ms p95 response time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Automated latency bench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NFR-02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Security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Least-privilege role-based access control.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100% protected routes enforce checks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Negative security tests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NFR-03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Data Integrity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Cryptographic verification of all submitted deliverables.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SHA-256 mismatch detection = 100%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File tampering injection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NFR-04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Input Validation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Strict boundary validation and injection prevention.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100% payloads validated via Zod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Fuzz testing (SQLi/XSS)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NFR-05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FSM Reliability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Deterministic escrow and milestone state machine execution.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0 invalid transitions permitted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FSM model checker tests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NFR-06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Responsiveness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Responsive UI rendering across heterogeneous display viewports.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Layout adapts cleanly to mobile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Viewport responsive audit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NFR-07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Maintainability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Clean engine modularity with isolated subject boundaries.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4 independently ownable engines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Static architecture lint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NFR-08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Consistency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ACID transactional guarantees across escrow transfers.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0 double-allocation anomalies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Concurrent stress testing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NFR-09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Auditability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Tamper-resistant historical trace for all adjudications.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100% state transitions recorded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Audit trail verification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NFR-10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Fault Tolerance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Graceful system degradation and structured error responses.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Zero unhandled exceptions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Times New Roman"/>
                        </a:rPr>
                        <a:t>Chaos testing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22222"/>
                </a:solidFill>
                <a:latin typeface="Times New Roman"/>
              </a:rPr>
              <a:t>Mini Project Kick-off: Week 4 &amp; Gate 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Stage included: S1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430000" cy="5486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5555"/>
                </a:solidFill>
                <a:latin typeface="Times New Roman"/>
              </a:rPr>
              <a:t>Your focus is to convert the approved problem into clear, testable and traceable system requirements before architecture or coding begins.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2514600" cy="10972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WEEK 4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Times New Roman"/>
              </a:rPr>
              <a:t>S1 – Requirements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011680"/>
            <a:ext cx="365760" cy="5486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03A2E"/>
                </a:solidFill>
                <a:latin typeface="Times New Roman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737360"/>
            <a:ext cx="2514600" cy="1097280"/>
          </a:xfrm>
          <a:prstGeom prst="rect">
            <a:avLst/>
          </a:prstGeom>
          <a:solidFill>
            <a:srgbClr val="7B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REQUIREMENTS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Times New Roman"/>
              </a:rPr>
              <a:t>FR + NFR + 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365760" cy="5486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03A2E"/>
                </a:solidFill>
                <a:latin typeface="Times New Roman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2514600" cy="1097280"/>
          </a:xfrm>
          <a:prstGeom prst="rect">
            <a:avLst/>
          </a:prstGeom>
          <a:solidFill>
            <a:srgbClr val="7B2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ENGINE DECOMPOSITION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Times New Roman"/>
              </a:rPr>
              <a:t>Requirements Clustering -&gt;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011680"/>
            <a:ext cx="365760" cy="5486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B03A2E"/>
                </a:solidFill>
                <a:latin typeface="Times New Roman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737360"/>
            <a:ext cx="2514600" cy="10972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WEEK 5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Times New Roman"/>
              </a:rPr>
              <a:t>GATE 1 - Requirement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4572000" cy="3657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B03A2E"/>
                </a:solidFill>
                <a:latin typeface="Times New Roman"/>
              </a:rPr>
              <a:t>Week 4 includes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2743200" cy="16002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1. Requirements Baseline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SRS with Functional and Non-Functional Requirements, constraints and external interactions.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3474720"/>
            <a:ext cx="2743200" cy="16002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2. Traceability &amp; Acceptance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Use cases / user stories, acceptance criteria and initial Requirements Traceability Matrix.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2743200" cy="16002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3. Engine Decomposition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Cluster related requirements, identify technical responsibilities, derive engines and assign ownership.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3474720"/>
            <a:ext cx="2743200" cy="16002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4. CO2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Formulate structured, testable and traceable software requirements before system design begins.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1247120" cy="96012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B03A2E"/>
                </a:solidFill>
                <a:latin typeface="Times New Roman"/>
              </a:rPr>
              <a:t>Do NOT do in Week 1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No coding  •  No database creation  •  No UI screens  •  No API implementation  •  No architecture finalization before Gate 1 approval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Times New Roman"/>
              </a:rPr>
              <a:t>Formulating a Strong Requirements Baseline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03A2E"/>
                </a:solidFill>
                <a:latin typeface="Times New Roman"/>
              </a:rPr>
              <a:t>S1 – Functional Requirements Engineering  |  Gate 1 – Requirements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11430000" cy="50292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22222"/>
                </a:solidFill>
                <a:latin typeface="Times New Roman"/>
              </a:rPr>
              <a:t>Strong Requirement = Stakeholder Need + Specific Behaviour + Constraint + Acceptance Criteria + Traceability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2194560" cy="38404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  Derive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67128"/>
            <a:ext cx="2194560" cy="77724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From approved problem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stakeholder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783080"/>
            <a:ext cx="2194560" cy="38404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  Specify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167128"/>
            <a:ext cx="2194560" cy="77724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Functional requirements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non-functional requirements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783080"/>
            <a:ext cx="2194560" cy="38404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3  Validate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167128"/>
            <a:ext cx="2194560" cy="77724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Use cases / user stories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acceptance criteria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783080"/>
            <a:ext cx="2194560" cy="38404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4  Decompose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167128"/>
            <a:ext cx="2194560" cy="77724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Requirement clustering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technical responsibilities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783080"/>
            <a:ext cx="2194560" cy="38404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5  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167128"/>
            <a:ext cx="2194560" cy="77724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Engine ownership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RTM + measurable KPIs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08960"/>
            <a:ext cx="7040880" cy="34747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Requirement Definition Template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56432"/>
            <a:ext cx="7040880" cy="146304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FR: The system shall [perform behaviour] for [actor] when [condition/trigger], producing [expected outcome].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NFR: The system shall achieve [quality attribute] of [measurable target] under [defined workload/condition].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Acceptance: Accepted when [observable pass/fail condition] is satisfied.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108960"/>
            <a:ext cx="4206240" cy="34747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Avoid in Week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456432"/>
            <a:ext cx="4206240" cy="146304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•  Vague requirements such as “system should be fast”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•  Starting code, UI, database or API implementation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•  Defining engines before analysing requirements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•  Dividing work as Frontend / Backend / Database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22222"/>
                </a:solidFill>
                <a:latin typeface="Times New Roman"/>
              </a:rPr>
              <a:t>•  Requirements without acceptance criteria or S0 traceability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029200"/>
            <a:ext cx="7315200" cy="29260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Evidence to present at Gate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49240"/>
            <a:ext cx="1364742" cy="56692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SRS – FR &amp; NFR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03654" y="5349240"/>
            <a:ext cx="1364742" cy="56692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Use Cases / User Stories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1548" y="5349240"/>
            <a:ext cx="1364742" cy="56692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Acceptance Criteria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9442" y="5349240"/>
            <a:ext cx="1364742" cy="56692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Requirements Traceability Matrix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5349240"/>
            <a:ext cx="1364742" cy="56692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Requirement Clustering Sheet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55229" y="5349240"/>
            <a:ext cx="1364742" cy="56692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Engine Decomposition Matrix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93124" y="5349240"/>
            <a:ext cx="1364742" cy="56692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Requirement-to-Engine Mapping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31018" y="5349240"/>
            <a:ext cx="1364742" cy="56692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KPI / Measurement Sheet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016752"/>
            <a:ext cx="11430000" cy="41148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22222"/>
                </a:solidFill>
                <a:latin typeface="Times New Roman"/>
              </a:rPr>
              <a:t>Key message: Gate 1 approves what the system must do, how success will be measured, and who owns each technical responsibility — not the implementation.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222222"/>
                </a:solidFill>
                <a:latin typeface="Times New Roman"/>
              </a:rPr>
              <a:t>Week 4 Preparation: Building the Requirements Baseline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S1 – Functional Requirements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11430000" cy="5486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5555"/>
                </a:solidFill>
                <a:latin typeface="Times New Roman"/>
              </a:rPr>
              <a:t>Prepare the requirements baseline first. Your document should answer “What must the system do, how will it be measured, and who owns each technical responsibility?”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83080"/>
          <a:ext cx="1143000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91840"/>
                <a:gridCol w="75895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Evidence to prepare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What it must clearly show</a:t>
                      </a:r>
                    </a:p>
                  </a:txBody>
                  <a:tcPr marL="64008" marR="64008" marT="27432" marB="27432" anchor="ctr">
                    <a:solidFill>
                      <a:srgbClr val="B03A2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SRS – FR &amp; NFR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Specific functional behaviour and measurable non-functional targets; no vague requirement statements.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Use Cases / User Stories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Actors, triggers, normal flow, alternate flow, exception flow and expected outcome.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Acceptance Criteria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Clear observable pass/fail conditions for every major requirement.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Requirements Traceability Matrix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Each requirement traces to S0 need, use case/story, acceptance criterion and owner.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Requirement Clustering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Related requirements grouped by common technical responsibility, not by UI feature.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Engine Decomposition + Ownership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Requirement → Cluster → Technical Responsibility → Engine → Student Owner.</a:t>
                      </a:r>
                    </a:p>
                  </a:txBody>
                  <a:tcPr marL="64008" marR="64008" marT="27432" marB="27432" anchor="ctr">
                    <a:solidFill>
                      <a:srgbClr val="FBECE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KPI / Measurement Sheet + CO2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Times New Roman"/>
                        </a:rPr>
                        <a:t>Mandatory KPIs, system KPIs, challenge KPIs, workload, metric and measurement method.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22222"/>
                </a:solidFill>
                <a:latin typeface="Times New Roman"/>
              </a:rPr>
              <a:t>Before Week 5: ensure every S1 document is dated, committed, traceable and corrected before Gate 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22222"/>
                </a:solidFill>
                <a:latin typeface="Times New Roman"/>
              </a:rPr>
              <a:t>Gate 1 Evidence Package: Requirements Baseline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Requirements Baseline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430000" cy="5486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5555"/>
                </a:solidFill>
                <a:latin typeface="Times New Roman"/>
              </a:rPr>
              <a:t>Gate 1 checks whether the requirements baseline is ready for S2. It checks FR/NFR, traceability, engine decomposition and ownership — not implementation.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02920" cy="93268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737360"/>
            <a:ext cx="5120640" cy="93268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SRS — FR &amp; NFR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Functional and non-functional requirements are complete, specific and testable.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502920" cy="93268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737360"/>
            <a:ext cx="5120640" cy="93268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Use Cases / User Stories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Main, alternate, boundary and exception flows are documented.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61488"/>
            <a:ext cx="502920" cy="93268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761488"/>
            <a:ext cx="5120640" cy="93268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Acceptance Criteria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Each major requirement has observable pass/fail conditions.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761488"/>
            <a:ext cx="502920" cy="93268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761488"/>
            <a:ext cx="5120640" cy="93268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Requirements Traceability Matrix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S0 need → requirement → use case/story → acceptance criterion →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85616"/>
            <a:ext cx="502920" cy="93268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785616"/>
            <a:ext cx="5120640" cy="93268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Requirement Clustering Sheet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Related requirements are grouped by common technical responsibility.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785616"/>
            <a:ext cx="502920" cy="93268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785616"/>
            <a:ext cx="5120640" cy="93268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Engine Decomposition Matrix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Engines have responsibility, I/O, state, mechanism, failure cases and owner.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09744"/>
            <a:ext cx="502920" cy="93268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809744"/>
            <a:ext cx="5120640" cy="93268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Requirement-to-Engine Mapping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Each major requirement has one primary owning engine and supporting dependencies.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809744"/>
            <a:ext cx="502920" cy="93268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809744"/>
            <a:ext cx="5120640" cy="932688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KPI / Measurement Sheet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Mandatory, system and challenge KPIs have workload, metric and measurement method.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52160"/>
            <a:ext cx="11430000" cy="50292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22222"/>
                </a:solidFill>
                <a:latin typeface="Times New Roman"/>
              </a:rPr>
              <a:t>Gate 1 rule: Present the requirements baseline only. Do not present architecture diagrams, UI screens, code, API implementation or database tables as Gate 1 evidence.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096" y="82296"/>
            <a:ext cx="3419856" cy="5815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"/>
            <a:ext cx="8321040" cy="59436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Times New Roman"/>
              </a:rPr>
              <a:t>Gate 1 Readiness: 10-Mark Review Checklist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731520"/>
            <a:ext cx="11457432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6473952"/>
            <a:ext cx="1051560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Department of Computer Science and Engineering  |  Team 07 — Milestone-Based Escrow &amp; Dispute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7315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98989"/>
                </a:solidFill>
                <a:latin typeface="Times New Roman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86384"/>
            <a:ext cx="11430000" cy="3200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10 marks • individual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430000" cy="5486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5555"/>
                </a:solidFill>
                <a:latin typeface="Times New Roman"/>
              </a:rPr>
              <a:t>Gate 1 outcome: Proceed to S2 only when FR/NFR, use cases, acceptance criteria, RTM, engine decomposition, ownership and measurable KPIs are approved.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486400" cy="34747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10-mark Gate 1 focus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76272"/>
            <a:ext cx="640080" cy="62179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176272"/>
            <a:ext cx="4800600" cy="62179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SRS: FR/NFR, use cases &amp; acceptance criteria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9504"/>
            <a:ext cx="640080" cy="62179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889504"/>
            <a:ext cx="4800600" cy="62179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Requirements Traceability Matrix (RTM)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02736"/>
            <a:ext cx="640080" cy="62179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602736"/>
            <a:ext cx="4800600" cy="621792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Times New Roman"/>
              </a:rPr>
              <a:t>Engine decomposition &amp; individual ownership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5623560" cy="347472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Be ready to answer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84831"/>
            <a:ext cx="5623560" cy="246888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•  What must the system do for each stakeholder?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•  Which FRs and NFRs are measurable and testable?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•  What use case or user story proves each requirement?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•  What is the acceptance criterion for each major requirement?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•  How does each requirement trace back to the approved problem?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•  Which requirements are clustered into which engine?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•  Who owns each engine and why?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•  Which KPIs will later prove success?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5623560" cy="100584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Pass condition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Requirements baseline is complete, traceable, measurable and explainable by every student.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754880"/>
            <a:ext cx="5623560" cy="100584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B03A2E"/>
                </a:solidFill>
                <a:latin typeface="Times New Roman"/>
              </a:rPr>
              <a:t>Next stage after approval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2222"/>
                </a:solidFill>
                <a:latin typeface="Times New Roman"/>
              </a:rPr>
              <a:t>S2 – Shared Architecture: system structure, engine boundaries, interfaces and design rationale.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solidFill>
            <a:srgbClr val="FB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22222"/>
                </a:solidFill>
                <a:latin typeface="Times New Roman"/>
              </a:rPr>
              <a:t>Core message: Gate 1 approves the requirements baseline and engine ownership — not the architecture, not code.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548640"/>
            <a:ext cx="7863840" cy="13368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B03A2E"/>
                </a:solidFill>
                <a:latin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0152" cy="54864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222222"/>
                </a:solidFill>
                <a:latin typeface="Times New Roman"/>
              </a:rPr>
              <a:t>Milestone-Based Escrow &amp; Dispute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22222"/>
                </a:solidFill>
                <a:latin typeface="Times New Roman"/>
              </a:rPr>
              <a:t>Team 07  |  Theme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22222"/>
                </a:solidFill>
                <a:latin typeface="Times New Roman"/>
              </a:rPr>
              <a:t>Vaibhav  •  Purvi  •  Darshan  •  Vaishnavi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Department of Computer Science and Engineering,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KLE Technological University's Dr. M. S. Sheshgiri College of Engineering and Technology, Belagavi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18201</Words>
  <Application>WPS Presentation</Application>
  <PresentationFormat>Widescreen</PresentationFormat>
  <Paragraphs>781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SimSun</vt:lpstr>
      <vt:lpstr>Wingdings</vt:lpstr>
      <vt:lpstr>Times New Roman</vt:lpstr>
      <vt:lpstr>Lora</vt:lpstr>
      <vt:lpstr>Times New Roman</vt:lpstr>
      <vt:lpstr>Calibri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Sunil V Gurlahosur</dc:creator>
  <cp:lastModifiedBy>Shivani Teli</cp:lastModifiedBy>
  <cp:revision>12</cp:revision>
  <dcterms:created xsi:type="dcterms:W3CDTF">2026-09-11T08:58:00Z</dcterms:created>
  <dcterms:modified xsi:type="dcterms:W3CDTF">2026-10-01T06:35:48Z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4B560AAA304949DFBBFA4C9E974A1FB7_13</vt:lpwstr>
  </property>
</Properties>
</file>